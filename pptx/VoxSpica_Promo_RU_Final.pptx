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92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C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48BF0"/>
          </a:solidFill>
          <a:ln>
            <a:solidFill>
              <a:srgbClr val="548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94360" y="411480"/>
            <a:ext cx="364845" cy="364845"/>
          </a:xfrm>
          <a:prstGeom prst="ellipse">
            <a:avLst/>
          </a:prstGeom>
          <a:solidFill>
            <a:srgbClr val="2A67DC"/>
          </a:solidFill>
          <a:ln>
            <a:solidFill>
              <a:srgbClr val="2A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75970" y="440283"/>
            <a:ext cx="192024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FFFFFF"/>
                </a:solidFill>
                <a:latin typeface="Aptos"/>
              </a:rPr>
              <a:t>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5217" y="401878"/>
            <a:ext cx="1584198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90" b="1">
                <a:solidFill>
                  <a:srgbClr val="FFFFFF"/>
                </a:solidFill>
                <a:latin typeface="Aptos"/>
              </a:rPr>
              <a:t>VoxSpica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6400800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Aptos"/>
              </a:rPr>
              <a:t>Голос → текст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21992"/>
            <a:ext cx="7132320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548BF0"/>
                </a:solidFill>
                <a:latin typeface="Aptos"/>
              </a:rPr>
              <a:t>прямо на вашем компьютере.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154680"/>
            <a:ext cx="5943600" cy="914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CDD7E4"/>
                </a:solidFill>
                <a:latin typeface="Aptos"/>
              </a:rPr>
              <a:t>Локальное распознавание речи для Windows.
Без облака. Без подписки. Без передачи аудио.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851660"/>
            <a:ext cx="82296" cy="228600"/>
          </a:xfrm>
          <a:prstGeom prst="roundRect">
            <a:avLst>
              <a:gd name="adj" fmla="val 8000"/>
            </a:avLst>
          </a:prstGeom>
          <a:solidFill>
            <a:srgbClr val="548BF0"/>
          </a:solidFill>
          <a:ln>
            <a:solidFill>
              <a:srgbClr val="548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799832" y="1737360"/>
            <a:ext cx="82296" cy="457200"/>
          </a:xfrm>
          <a:prstGeom prst="roundRect">
            <a:avLst>
              <a:gd name="adj" fmla="val 8000"/>
            </a:avLst>
          </a:prstGeom>
          <a:solidFill>
            <a:srgbClr val="548BF0"/>
          </a:solidFill>
          <a:ln>
            <a:solidFill>
              <a:srgbClr val="548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10144" y="1577339"/>
            <a:ext cx="82296" cy="777240"/>
          </a:xfrm>
          <a:prstGeom prst="roundRect">
            <a:avLst>
              <a:gd name="adj" fmla="val 8000"/>
            </a:avLst>
          </a:prstGeom>
          <a:solidFill>
            <a:srgbClr val="548BF0"/>
          </a:solidFill>
          <a:ln>
            <a:solidFill>
              <a:srgbClr val="548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220456" y="1773936"/>
            <a:ext cx="82296" cy="384048"/>
          </a:xfrm>
          <a:prstGeom prst="roundRect">
            <a:avLst>
              <a:gd name="adj" fmla="val 8000"/>
            </a:avLst>
          </a:prstGeom>
          <a:solidFill>
            <a:srgbClr val="548BF0"/>
          </a:solidFill>
          <a:ln>
            <a:solidFill>
              <a:srgbClr val="548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430768" y="1417319"/>
            <a:ext cx="82296" cy="1097280"/>
          </a:xfrm>
          <a:prstGeom prst="roundRect">
            <a:avLst>
              <a:gd name="adj" fmla="val 8000"/>
            </a:avLst>
          </a:prstGeom>
          <a:solidFill>
            <a:srgbClr val="548BF0"/>
          </a:solidFill>
          <a:ln>
            <a:solidFill>
              <a:srgbClr val="548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641080" y="1682495"/>
            <a:ext cx="82296" cy="566928"/>
          </a:xfrm>
          <a:prstGeom prst="roundRect">
            <a:avLst>
              <a:gd name="adj" fmla="val 8000"/>
            </a:avLst>
          </a:prstGeom>
          <a:solidFill>
            <a:srgbClr val="548BF0"/>
          </a:solidFill>
          <a:ln>
            <a:solidFill>
              <a:srgbClr val="548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851392" y="1531619"/>
            <a:ext cx="82296" cy="868680"/>
          </a:xfrm>
          <a:prstGeom prst="roundRect">
            <a:avLst>
              <a:gd name="adj" fmla="val 8000"/>
            </a:avLst>
          </a:prstGeom>
          <a:solidFill>
            <a:srgbClr val="548BF0"/>
          </a:solidFill>
          <a:ln>
            <a:solidFill>
              <a:srgbClr val="548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061704" y="1805939"/>
            <a:ext cx="82296" cy="320040"/>
          </a:xfrm>
          <a:prstGeom prst="roundRect">
            <a:avLst>
              <a:gd name="adj" fmla="val 8000"/>
            </a:avLst>
          </a:prstGeom>
          <a:solidFill>
            <a:srgbClr val="548BF0"/>
          </a:solidFill>
          <a:ln>
            <a:solidFill>
              <a:srgbClr val="548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272016" y="1636776"/>
            <a:ext cx="82296" cy="658368"/>
          </a:xfrm>
          <a:prstGeom prst="roundRect">
            <a:avLst>
              <a:gd name="adj" fmla="val 8000"/>
            </a:avLst>
          </a:prstGeom>
          <a:solidFill>
            <a:srgbClr val="548BF0"/>
          </a:solidFill>
          <a:ln>
            <a:solidFill>
              <a:srgbClr val="548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482328" y="1746504"/>
            <a:ext cx="82296" cy="438912"/>
          </a:xfrm>
          <a:prstGeom prst="roundRect">
            <a:avLst>
              <a:gd name="adj" fmla="val 8000"/>
            </a:avLst>
          </a:prstGeom>
          <a:solidFill>
            <a:srgbClr val="548BF0"/>
          </a:solidFill>
          <a:ln>
            <a:solidFill>
              <a:srgbClr val="548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692640" y="1837943"/>
            <a:ext cx="82296" cy="256032"/>
          </a:xfrm>
          <a:prstGeom prst="roundRect">
            <a:avLst>
              <a:gd name="adj" fmla="val 8000"/>
            </a:avLst>
          </a:prstGeom>
          <a:solidFill>
            <a:srgbClr val="548BF0"/>
          </a:solidFill>
          <a:ln>
            <a:solidFill>
              <a:srgbClr val="548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902952" y="1691639"/>
            <a:ext cx="82296" cy="548640"/>
          </a:xfrm>
          <a:prstGeom prst="roundRect">
            <a:avLst>
              <a:gd name="adj" fmla="val 8000"/>
            </a:avLst>
          </a:prstGeom>
          <a:solidFill>
            <a:srgbClr val="548BF0"/>
          </a:solidFill>
          <a:ln>
            <a:solidFill>
              <a:srgbClr val="548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113264" y="1554480"/>
            <a:ext cx="82296" cy="822960"/>
          </a:xfrm>
          <a:prstGeom prst="roundRect">
            <a:avLst>
              <a:gd name="adj" fmla="val 8000"/>
            </a:avLst>
          </a:prstGeom>
          <a:solidFill>
            <a:srgbClr val="548BF0"/>
          </a:solidFill>
          <a:ln>
            <a:solidFill>
              <a:srgbClr val="548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323576" y="1783080"/>
            <a:ext cx="82296" cy="365760"/>
          </a:xfrm>
          <a:prstGeom prst="roundRect">
            <a:avLst>
              <a:gd name="adj" fmla="val 8000"/>
            </a:avLst>
          </a:prstGeom>
          <a:solidFill>
            <a:srgbClr val="548BF0"/>
          </a:solidFill>
          <a:ln>
            <a:solidFill>
              <a:srgbClr val="548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533888" y="1645919"/>
            <a:ext cx="82296" cy="640080"/>
          </a:xfrm>
          <a:prstGeom prst="roundRect">
            <a:avLst>
              <a:gd name="adj" fmla="val 8000"/>
            </a:avLst>
          </a:prstGeom>
          <a:solidFill>
            <a:srgbClr val="548BF0"/>
          </a:solidFill>
          <a:ln>
            <a:solidFill>
              <a:srgbClr val="548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720840" y="2788920"/>
            <a:ext cx="4846320" cy="3246120"/>
          </a:xfrm>
          <a:prstGeom prst="roundRect">
            <a:avLst>
              <a:gd name="adj" fmla="val 8000"/>
            </a:avLst>
          </a:prstGeom>
          <a:solidFill>
            <a:srgbClr val="FBFCFD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720840" y="2788920"/>
            <a:ext cx="4846320" cy="347472"/>
          </a:xfrm>
          <a:prstGeom prst="rect">
            <a:avLst/>
          </a:prstGeom>
          <a:solidFill>
            <a:srgbClr val="F2F4F7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858000" y="2889503"/>
            <a:ext cx="128016" cy="128016"/>
          </a:xfrm>
          <a:prstGeom prst="ellipse">
            <a:avLst/>
          </a:prstGeom>
          <a:solidFill>
            <a:srgbClr val="2A67DC"/>
          </a:solidFill>
          <a:ln>
            <a:solidFill>
              <a:srgbClr val="2A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68312" y="2852927"/>
            <a:ext cx="374903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6877"/>
                </a:solidFill>
                <a:latin typeface="Aptos"/>
              </a:rPr>
              <a:t>VoxSpica — Speech Recognition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199" y="2843784"/>
            <a:ext cx="6858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D6877"/>
                </a:solidFill>
                <a:latin typeface="Aptos"/>
              </a:rPr>
              <a:t>—   □   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67144" y="3355848"/>
            <a:ext cx="14173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D6877"/>
                </a:solidFill>
                <a:latin typeface="Aptos"/>
              </a:rPr>
              <a:t>Recognition language: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10727" y="3310127"/>
            <a:ext cx="23317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57031" y="3383279"/>
            <a:ext cx="16459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F2732"/>
                </a:solidFill>
                <a:latin typeface="Aptos"/>
              </a:rPr>
              <a:t>en-us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34472" y="3355848"/>
            <a:ext cx="6400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D6877"/>
                </a:solidFill>
                <a:latin typeface="Aptos"/>
              </a:rPr>
              <a:t>Model: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201400" y="3310127"/>
            <a:ext cx="196596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347704" y="3383279"/>
            <a:ext cx="1554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F2732"/>
                </a:solidFill>
                <a:latin typeface="Aptos"/>
              </a:rPr>
              <a:t>small (~50 MB)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67144" y="3813048"/>
            <a:ext cx="8686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D6877"/>
                </a:solidFill>
                <a:latin typeface="Aptos"/>
              </a:rPr>
              <a:t>Microphone: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35240" y="3767328"/>
            <a:ext cx="3767328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81544" y="3840479"/>
            <a:ext cx="1828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F2732"/>
                </a:solidFill>
                <a:latin typeface="Aptos"/>
              </a:rPr>
              <a:t>Default</a:t>
            </a:r>
          </a:p>
        </p:txBody>
      </p:sp>
      <p:sp>
        <p:nvSpPr>
          <p:cNvPr id="38" name="Oval 37"/>
          <p:cNvSpPr/>
          <p:nvPr/>
        </p:nvSpPr>
        <p:spPr>
          <a:xfrm>
            <a:off x="6876288" y="4270248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935724" y="4306824"/>
            <a:ext cx="2286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A67DC"/>
                </a:solidFill>
                <a:latin typeface="Aptos"/>
              </a:rPr>
              <a:t>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42631" y="4315968"/>
            <a:ext cx="22860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D6877"/>
                </a:solidFill>
                <a:latin typeface="Aptos"/>
              </a:rPr>
              <a:t>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26679" y="4315968"/>
            <a:ext cx="22860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5D6877"/>
                </a:solidFill>
                <a:latin typeface="Aptos"/>
              </a:rPr>
              <a:t>■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8160" y="4242816"/>
            <a:ext cx="1078992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38744" y="4334256"/>
            <a:ext cx="8686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F2732"/>
                </a:solidFill>
                <a:latin typeface="Aptos"/>
              </a:rPr>
              <a:t>Transcribe file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99448" y="4242816"/>
            <a:ext cx="82296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445752" y="4334256"/>
            <a:ext cx="59436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F2732"/>
                </a:solidFill>
                <a:latin typeface="Aptos"/>
              </a:rPr>
              <a:t>Copy text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67144" y="4745736"/>
            <a:ext cx="4553712" cy="109727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013448" y="4928616"/>
            <a:ext cx="42062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28C9B"/>
                </a:solidFill>
                <a:latin typeface="Aptos"/>
              </a:rPr>
              <a:t>Start speaking…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13448" y="5312664"/>
            <a:ext cx="420624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2732"/>
                </a:solidFill>
                <a:latin typeface="Aptos"/>
              </a:rPr>
              <a:t>Your words appear here as you speak.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67144" y="5806440"/>
            <a:ext cx="109728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D6877"/>
                </a:solidFill>
                <a:latin typeface="Aptos"/>
              </a:rPr>
              <a:t>Model ready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" y="6080760"/>
            <a:ext cx="251831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dirty="0">
                <a:solidFill>
                  <a:srgbClr val="A0AFC3"/>
                </a:solidFill>
                <a:latin typeface="Aptos"/>
              </a:rPr>
              <a:t>Windows 10/11 • 33 </a:t>
            </a:r>
            <a:r>
              <a:rPr lang="ru-RU" sz="1050" b="0" dirty="0">
                <a:solidFill>
                  <a:srgbClr val="A0AFC3"/>
                </a:solidFill>
                <a:latin typeface="Aptos"/>
              </a:rPr>
              <a:t>языка</a:t>
            </a:r>
            <a:r>
              <a:rPr sz="1050" b="0" dirty="0">
                <a:solidFill>
                  <a:srgbClr val="A0AFC3"/>
                </a:solidFill>
                <a:latin typeface="Aptos"/>
              </a:rPr>
              <a:t> </a:t>
            </a:r>
            <a:r>
              <a:rPr lang="ru-RU" sz="1050" b="0" dirty="0">
                <a:solidFill>
                  <a:srgbClr val="A0AFC3"/>
                </a:solidFill>
                <a:latin typeface="Aptos"/>
              </a:rPr>
              <a:t>распознавания</a:t>
            </a:r>
            <a:endParaRPr sz="1050" b="0" dirty="0">
              <a:solidFill>
                <a:srgbClr val="A0AFC3"/>
              </a:solidFill>
              <a:latin typeface="Apto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A0AAB9"/>
                </a:solidFill>
                <a:latin typeface="Aptos"/>
              </a:rPr>
              <a:t>01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8912" y="246888"/>
            <a:ext cx="2194560" cy="594360"/>
          </a:xfrm>
          <a:prstGeom prst="rect">
            <a:avLst/>
          </a:prstGeom>
          <a:solidFill>
            <a:srgbClr val="121C2D"/>
          </a:solidFill>
          <a:ln>
            <a:solidFill>
              <a:srgbClr val="121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3" name="Picture 52" descr="voxspica_mi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10896"/>
            <a:ext cx="384048" cy="38404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996695" y="301752"/>
            <a:ext cx="16459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ptos"/>
              </a:rPr>
              <a:t>VoxSpica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67DC"/>
          </a:solidFill>
          <a:ln>
            <a:solidFill>
              <a:srgbClr val="2A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347472"/>
            <a:ext cx="347472" cy="347472"/>
          </a:xfrm>
          <a:prstGeom prst="ellipse">
            <a:avLst/>
          </a:prstGeom>
          <a:solidFill>
            <a:srgbClr val="2A67DC"/>
          </a:solidFill>
          <a:ln>
            <a:solidFill>
              <a:srgbClr val="2A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80644" y="374904"/>
            <a:ext cx="18288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Aptos"/>
              </a:rPr>
              <a:t>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38328"/>
            <a:ext cx="150876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21C2D"/>
                </a:solidFill>
                <a:latin typeface="Aptos"/>
              </a:rPr>
              <a:t>VoxSpica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43000"/>
            <a:ext cx="43891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A67DC"/>
                </a:solidFill>
                <a:latin typeface="Aptos"/>
              </a:rPr>
              <a:t>ПРОБЛЕМА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698480" cy="868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21C2D"/>
                </a:solidFill>
                <a:latin typeface="Aptos"/>
              </a:rPr>
              <a:t>Распознавание речи не должно требовать облака.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D6877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640080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21C2D"/>
                </a:solidFill>
                <a:latin typeface="Aptos"/>
              </a:rPr>
              <a:t>Когда вы говорите, голос — это ваши данные.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246120"/>
            <a:ext cx="3520440" cy="2331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3410712"/>
            <a:ext cx="3118104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A67DC"/>
                </a:solidFill>
                <a:latin typeface="Aptos"/>
              </a:rPr>
              <a:t>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959352"/>
            <a:ext cx="3118104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21C2D"/>
                </a:solidFill>
                <a:latin typeface="Aptos"/>
              </a:rPr>
              <a:t>Облако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4416552"/>
            <a:ext cx="3118104" cy="10058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877"/>
                </a:solidFill>
                <a:latin typeface="Aptos"/>
              </a:rPr>
              <a:t>Аудио уходит на удалённый сервис.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246120"/>
            <a:ext cx="3520440" cy="2331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44568" y="3410712"/>
            <a:ext cx="3118104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A67DC"/>
                </a:solidFill>
                <a:latin typeface="Aptos"/>
              </a:rPr>
              <a:t>$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3959352"/>
            <a:ext cx="3118104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21C2D"/>
                </a:solidFill>
                <a:latin typeface="Aptos"/>
              </a:rPr>
              <a:t>Подписки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4416552"/>
            <a:ext cx="3118104" cy="10058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877"/>
                </a:solidFill>
                <a:latin typeface="Aptos"/>
              </a:rPr>
              <a:t>Полезные функции часто привязаны к оплате.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3246120"/>
            <a:ext cx="3520440" cy="2331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93608" y="3410712"/>
            <a:ext cx="3118104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A67DC"/>
                </a:solidFill>
                <a:latin typeface="Aptos"/>
              </a:rPr>
              <a:t>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3959352"/>
            <a:ext cx="3118104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21C2D"/>
                </a:solidFill>
                <a:latin typeface="Aptos"/>
              </a:rPr>
              <a:t>Интернет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4416552"/>
            <a:ext cx="3118104" cy="10058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877"/>
                </a:solidFill>
                <a:latin typeface="Aptos"/>
              </a:rPr>
              <a:t>Без сети привычные сервисы перестают работать.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C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48BF0"/>
          </a:solidFill>
          <a:ln>
            <a:solidFill>
              <a:srgbClr val="548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347472"/>
            <a:ext cx="347472" cy="347472"/>
          </a:xfrm>
          <a:prstGeom prst="ellipse">
            <a:avLst/>
          </a:prstGeom>
          <a:solidFill>
            <a:srgbClr val="2A67DC"/>
          </a:solidFill>
          <a:ln>
            <a:solidFill>
              <a:srgbClr val="2A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80644" y="374904"/>
            <a:ext cx="18288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Aptos"/>
              </a:rPr>
              <a:t>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38328"/>
            <a:ext cx="150876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Aptos"/>
              </a:rPr>
              <a:t>VoxSpica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43000"/>
            <a:ext cx="43891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48BF0"/>
                </a:solidFill>
                <a:latin typeface="Aptos"/>
              </a:rPr>
              <a:t>РЕШЕНИЕ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698480" cy="868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Aptos"/>
              </a:rPr>
              <a:t>VoxSpica делает всё локально.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A0AAB9"/>
                </a:solidFill>
                <a:latin typeface="Apto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155448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Aptos"/>
              </a:rPr>
              <a:t>Микрофон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3429000"/>
            <a:ext cx="868680" cy="868680"/>
          </a:xfrm>
          <a:prstGeom prst="ellipse">
            <a:avLst/>
          </a:prstGeom>
          <a:solidFill>
            <a:srgbClr val="2A67DC"/>
          </a:solidFill>
          <a:ln>
            <a:solidFill>
              <a:srgbClr val="2A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25296" y="3675887"/>
            <a:ext cx="32004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Aptos"/>
              </a:rPr>
              <a:t>●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828800" y="3858768"/>
            <a:ext cx="1508760" cy="0"/>
          </a:xfrm>
          <a:prstGeom prst="line">
            <a:avLst/>
          </a:prstGeom>
          <a:ln w="38100">
            <a:solidFill>
              <a:srgbClr val="548B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743200" y="3246120"/>
            <a:ext cx="18288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548BF0"/>
                </a:solidFill>
                <a:latin typeface="Aptos"/>
              </a:rPr>
              <a:t>VoxSpica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09160" y="3858768"/>
            <a:ext cx="1508760" cy="0"/>
          </a:xfrm>
          <a:prstGeom prst="line">
            <a:avLst/>
          </a:prstGeom>
          <a:ln w="38100">
            <a:solidFill>
              <a:srgbClr val="548B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09360" y="2971800"/>
            <a:ext cx="4206240" cy="1737360"/>
          </a:xfrm>
          <a:prstGeom prst="roundRect">
            <a:avLst>
              <a:gd name="adj" fmla="val 8000"/>
            </a:avLst>
          </a:prstGeom>
          <a:solidFill>
            <a:srgbClr val="1E2A3E"/>
          </a:solidFill>
          <a:ln>
            <a:solidFill>
              <a:srgbClr val="374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3246120"/>
            <a:ext cx="36576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Aptos"/>
              </a:rPr>
              <a:t>Распознанный текст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730752"/>
            <a:ext cx="347472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BECDDE"/>
                </a:solidFill>
                <a:latin typeface="Aptos"/>
              </a:rPr>
              <a:t>Текст появляется по мере речи.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303520"/>
            <a:ext cx="996696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ptos"/>
              </a:rPr>
              <a:t>✓ без облака     ✓ без подписки     ✓ без интернета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" y="246888"/>
            <a:ext cx="2194560" cy="594360"/>
          </a:xfrm>
          <a:prstGeom prst="rect">
            <a:avLst/>
          </a:prstGeom>
          <a:solidFill>
            <a:srgbClr val="121C2D"/>
          </a:solidFill>
          <a:ln>
            <a:solidFill>
              <a:srgbClr val="121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voxspica_mi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10896"/>
            <a:ext cx="384048" cy="38404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96695" y="301752"/>
            <a:ext cx="16459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ptos"/>
              </a:rPr>
              <a:t>VoxSpica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67DC"/>
          </a:solidFill>
          <a:ln>
            <a:solidFill>
              <a:srgbClr val="2A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347472"/>
            <a:ext cx="347472" cy="347472"/>
          </a:xfrm>
          <a:prstGeom prst="ellipse">
            <a:avLst/>
          </a:prstGeom>
          <a:solidFill>
            <a:srgbClr val="2A67DC"/>
          </a:solidFill>
          <a:ln>
            <a:solidFill>
              <a:srgbClr val="2A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80644" y="374904"/>
            <a:ext cx="18288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Aptos"/>
              </a:rPr>
              <a:t>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38328"/>
            <a:ext cx="150876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21C2D"/>
                </a:solidFill>
                <a:latin typeface="Aptos"/>
              </a:rPr>
              <a:t>VoxSpica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43000"/>
            <a:ext cx="43891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A67DC"/>
                </a:solidFill>
                <a:latin typeface="Aptos"/>
              </a:rPr>
              <a:t>КАК ЭТО ВЫГЛЯДИТ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698480" cy="868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21C2D"/>
                </a:solidFill>
                <a:latin typeface="Aptos"/>
              </a:rPr>
              <a:t>Говорите — текст появляется сразу.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D6877"/>
                </a:solidFill>
                <a:latin typeface="Aptos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68880"/>
            <a:ext cx="6492240" cy="3886200"/>
          </a:xfrm>
          <a:prstGeom prst="roundRect">
            <a:avLst>
              <a:gd name="adj" fmla="val 8000"/>
            </a:avLst>
          </a:prstGeom>
          <a:solidFill>
            <a:srgbClr val="FBFCFD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2468880"/>
            <a:ext cx="6492240" cy="347472"/>
          </a:xfrm>
          <a:prstGeom prst="rect">
            <a:avLst/>
          </a:prstGeom>
          <a:solidFill>
            <a:srgbClr val="F2F4F7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2569464"/>
            <a:ext cx="128016" cy="128016"/>
          </a:xfrm>
          <a:prstGeom prst="ellipse">
            <a:avLst/>
          </a:prstGeom>
          <a:solidFill>
            <a:srgbClr val="2A67DC"/>
          </a:solidFill>
          <a:ln>
            <a:solidFill>
              <a:srgbClr val="2A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7552" y="2532888"/>
            <a:ext cx="539495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6877"/>
                </a:solidFill>
                <a:latin typeface="Aptos"/>
              </a:rPr>
              <a:t>VoxSpica — Speech Recognition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2523744"/>
            <a:ext cx="6858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D6877"/>
                </a:solidFill>
                <a:latin typeface="Aptos"/>
              </a:rPr>
              <a:t>—   □   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035808"/>
            <a:ext cx="14173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D6877"/>
                </a:solidFill>
                <a:latin typeface="Aptos"/>
              </a:rPr>
              <a:t>Recognition language: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29967" y="2990088"/>
            <a:ext cx="23317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76272" y="3063240"/>
            <a:ext cx="16459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F2732"/>
                </a:solidFill>
                <a:latin typeface="Aptos"/>
              </a:rPr>
              <a:t>en-us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3035808"/>
            <a:ext cx="6400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D6877"/>
                </a:solidFill>
                <a:latin typeface="Aptos"/>
              </a:rPr>
              <a:t>Model: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2990088"/>
            <a:ext cx="196596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66944" y="3063240"/>
            <a:ext cx="1554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F2732"/>
                </a:solidFill>
                <a:latin typeface="Aptos"/>
              </a:rPr>
              <a:t>small (~50 MB)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3493008"/>
            <a:ext cx="8686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D6877"/>
                </a:solidFill>
                <a:latin typeface="Aptos"/>
              </a:rPr>
              <a:t>Microphone: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54480" y="3447288"/>
            <a:ext cx="5413248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700784" y="3520440"/>
            <a:ext cx="1828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F2732"/>
                </a:solidFill>
                <a:latin typeface="Aptos"/>
              </a:rPr>
              <a:t>Default</a:t>
            </a:r>
          </a:p>
        </p:txBody>
      </p:sp>
      <p:sp>
        <p:nvSpPr>
          <p:cNvPr id="23" name="Oval 22"/>
          <p:cNvSpPr/>
          <p:nvPr/>
        </p:nvSpPr>
        <p:spPr>
          <a:xfrm>
            <a:off x="795528" y="3950208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4964" y="3986784"/>
            <a:ext cx="2286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A67DC"/>
                </a:solidFill>
                <a:latin typeface="Aptos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3995928"/>
            <a:ext cx="22860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D6877"/>
                </a:solidFill>
                <a:latin typeface="Aptos"/>
              </a:rPr>
              <a:t>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3995928"/>
            <a:ext cx="22860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5D6877"/>
                </a:solidFill>
                <a:latin typeface="Aptos"/>
              </a:rPr>
              <a:t>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57400" y="3922776"/>
            <a:ext cx="1078992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57984" y="4014216"/>
            <a:ext cx="8686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F2732"/>
                </a:solidFill>
                <a:latin typeface="Aptos"/>
              </a:rPr>
              <a:t>Transcribe file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18687" y="3922776"/>
            <a:ext cx="82296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364991" y="4014216"/>
            <a:ext cx="59436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F2732"/>
                </a:solidFill>
                <a:latin typeface="Aptos"/>
              </a:rPr>
              <a:t>Copy text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" y="4425696"/>
            <a:ext cx="6199631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32688" y="4608576"/>
            <a:ext cx="5852159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28C9B"/>
                </a:solidFill>
                <a:latin typeface="Aptos"/>
              </a:rPr>
              <a:t>Start speaking…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4992624"/>
            <a:ext cx="5852159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2732"/>
                </a:solidFill>
                <a:latin typeface="Aptos"/>
              </a:rPr>
              <a:t>Your words appear here as you speak.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" y="6126480"/>
            <a:ext cx="109728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D6877"/>
                </a:solidFill>
                <a:latin typeface="Aptos"/>
              </a:rPr>
              <a:t>Model ready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43800" y="2514600"/>
            <a:ext cx="3977639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18120" y="2706624"/>
            <a:ext cx="338328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21C2D"/>
                </a:solidFill>
                <a:latin typeface="Aptos"/>
              </a:rPr>
              <a:t>🎙  Говорите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43800" y="3657600"/>
            <a:ext cx="3977639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18120" y="3849624"/>
            <a:ext cx="338328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21C2D"/>
                </a:solidFill>
                <a:latin typeface="Aptos"/>
              </a:rPr>
              <a:t>Ⅱ  Пауза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43800" y="4800600"/>
            <a:ext cx="3977639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18120" y="4992624"/>
            <a:ext cx="338328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21C2D"/>
                </a:solidFill>
                <a:latin typeface="Aptos"/>
              </a:rPr>
              <a:t>Ⅱ  Пауза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60920" y="2359152"/>
            <a:ext cx="4251960" cy="3611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589520" y="2487168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1C2D"/>
                </a:solidFill>
                <a:latin typeface="Aptos"/>
              </a:rPr>
              <a:t>Как это работает</a:t>
            </a:r>
          </a:p>
        </p:txBody>
      </p:sp>
      <p:sp>
        <p:nvSpPr>
          <p:cNvPr id="43" name="Oval 42"/>
          <p:cNvSpPr/>
          <p:nvPr/>
        </p:nvSpPr>
        <p:spPr>
          <a:xfrm>
            <a:off x="7635240" y="3127248"/>
            <a:ext cx="438912" cy="438912"/>
          </a:xfrm>
          <a:prstGeom prst="ellipse">
            <a:avLst/>
          </a:prstGeom>
          <a:solidFill>
            <a:srgbClr val="2A67DC"/>
          </a:solidFill>
          <a:ln>
            <a:solidFill>
              <a:srgbClr val="2A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452359" y="3163824"/>
            <a:ext cx="6675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ptos"/>
              </a:rPr>
              <a:t>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11312" y="3118104"/>
            <a:ext cx="3063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1F2732"/>
                </a:solidFill>
                <a:latin typeface="Aptos"/>
              </a:rPr>
              <a:t>Говорите в микрофон</a:t>
            </a:r>
          </a:p>
        </p:txBody>
      </p:sp>
      <p:sp>
        <p:nvSpPr>
          <p:cNvPr id="46" name="Oval 45"/>
          <p:cNvSpPr/>
          <p:nvPr/>
        </p:nvSpPr>
        <p:spPr>
          <a:xfrm>
            <a:off x="7635240" y="3968496"/>
            <a:ext cx="438912" cy="438912"/>
          </a:xfrm>
          <a:prstGeom prst="ellipse">
            <a:avLst/>
          </a:prstGeom>
          <a:solidFill>
            <a:srgbClr val="2A67DC"/>
          </a:solidFill>
          <a:ln>
            <a:solidFill>
              <a:srgbClr val="2A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633321" y="4005072"/>
            <a:ext cx="44275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Aptos"/>
              </a:rPr>
              <a:t>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11312" y="3959352"/>
            <a:ext cx="3063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1F2732"/>
                </a:solidFill>
                <a:latin typeface="Aptos"/>
              </a:rPr>
              <a:t>Нажмите «Пауза» — остановить</a:t>
            </a:r>
          </a:p>
        </p:txBody>
      </p:sp>
      <p:sp>
        <p:nvSpPr>
          <p:cNvPr id="49" name="Oval 48"/>
          <p:cNvSpPr/>
          <p:nvPr/>
        </p:nvSpPr>
        <p:spPr>
          <a:xfrm>
            <a:off x="7635240" y="4809744"/>
            <a:ext cx="438912" cy="438912"/>
          </a:xfrm>
          <a:prstGeom prst="ellipse">
            <a:avLst/>
          </a:prstGeom>
          <a:solidFill>
            <a:srgbClr val="2A67DC"/>
          </a:solidFill>
          <a:ln>
            <a:solidFill>
              <a:srgbClr val="2A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633321" y="4846320"/>
            <a:ext cx="44275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Aptos"/>
              </a:rPr>
              <a:t>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11312" y="4800600"/>
            <a:ext cx="3063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1F2732"/>
                </a:solidFill>
                <a:latin typeface="Aptos"/>
              </a:rPr>
              <a:t>Нажмите «Пауза» ещё раз — продолжить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5577840"/>
            <a:ext cx="3611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A67DC"/>
                </a:solidFill>
                <a:latin typeface="Aptos"/>
              </a:rPr>
              <a:t>Одна кнопка: Пауза ↔ Продолжить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C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48BF0"/>
          </a:solidFill>
          <a:ln>
            <a:solidFill>
              <a:srgbClr val="548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347472"/>
            <a:ext cx="347472" cy="347472"/>
          </a:xfrm>
          <a:prstGeom prst="ellipse">
            <a:avLst/>
          </a:prstGeom>
          <a:solidFill>
            <a:srgbClr val="2A67DC"/>
          </a:solidFill>
          <a:ln>
            <a:solidFill>
              <a:srgbClr val="2A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80644" y="374904"/>
            <a:ext cx="18288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Aptos"/>
              </a:rPr>
              <a:t>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38328"/>
            <a:ext cx="150876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Aptos"/>
              </a:rPr>
              <a:t>VoxSpica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43000"/>
            <a:ext cx="43891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48BF0"/>
                </a:solidFill>
                <a:latin typeface="Aptos"/>
              </a:rPr>
              <a:t>ПРИВАТНОСТЬ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698480" cy="868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Aptos"/>
              </a:rPr>
              <a:t>Ваш голос остаётся на вашем компьютере.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A0AAB9"/>
                </a:solidFill>
                <a:latin typeface="Aptos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5486400" cy="10058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FFFFFF"/>
                </a:solidFill>
                <a:latin typeface="Aptos"/>
              </a:rPr>
              <a:t>Никаких загрузок аудио на сервер.
Никаких аккаунтов. Никакой телеметрии.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2423160"/>
            <a:ext cx="2926080" cy="2926080"/>
          </a:xfrm>
          <a:prstGeom prst="roundRect">
            <a:avLst>
              <a:gd name="adj" fmla="val 8000"/>
            </a:avLst>
          </a:prstGeom>
          <a:solidFill>
            <a:srgbClr val="1E2A3E"/>
          </a:solidFill>
          <a:ln>
            <a:solidFill>
              <a:srgbClr val="374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92440" y="2852928"/>
            <a:ext cx="1645920" cy="914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0" b="1">
                <a:solidFill>
                  <a:srgbClr val="548BF0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3886200"/>
            <a:ext cx="237744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Aptos"/>
              </a:rPr>
              <a:t>Локально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4407408"/>
            <a:ext cx="2377440" cy="640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BECDDE"/>
                </a:solidFill>
                <a:latin typeface="Aptos"/>
              </a:rPr>
              <a:t>История хранится
в SQLite на диске.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" y="246888"/>
            <a:ext cx="2194560" cy="594360"/>
          </a:xfrm>
          <a:prstGeom prst="rect">
            <a:avLst/>
          </a:prstGeom>
          <a:solidFill>
            <a:srgbClr val="121C2D"/>
          </a:solidFill>
          <a:ln>
            <a:solidFill>
              <a:srgbClr val="121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voxspica_mi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10896"/>
            <a:ext cx="384048" cy="3840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96695" y="301752"/>
            <a:ext cx="16459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ptos"/>
              </a:rPr>
              <a:t>VoxSpica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67DC"/>
          </a:solidFill>
          <a:ln>
            <a:solidFill>
              <a:srgbClr val="2A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347472"/>
            <a:ext cx="347472" cy="347472"/>
          </a:xfrm>
          <a:prstGeom prst="ellipse">
            <a:avLst/>
          </a:prstGeom>
          <a:solidFill>
            <a:srgbClr val="2A67DC"/>
          </a:solidFill>
          <a:ln>
            <a:solidFill>
              <a:srgbClr val="2A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80644" y="374904"/>
            <a:ext cx="18288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Aptos"/>
              </a:rPr>
              <a:t>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38328"/>
            <a:ext cx="150876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21C2D"/>
                </a:solidFill>
                <a:latin typeface="Aptos"/>
              </a:rPr>
              <a:t>VoxSpica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43000"/>
            <a:ext cx="43891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A67DC"/>
                </a:solidFill>
                <a:latin typeface="Aptos"/>
              </a:rPr>
              <a:t>СВОБОДА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698480" cy="868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21C2D"/>
                </a:solidFill>
                <a:latin typeface="Aptos"/>
              </a:rPr>
              <a:t>Бесплатно. Офлайн. Без лишних условий.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D6877"/>
                </a:solidFill>
                <a:latin typeface="Aptos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23160"/>
            <a:ext cx="292608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2A67DC"/>
                </a:solidFill>
                <a:latin typeface="Aptos"/>
              </a:rPr>
              <a:t>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2743200" cy="12344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21C2D"/>
                </a:solidFill>
                <a:latin typeface="Aptos"/>
              </a:rPr>
              <a:t>Нет подписки
Нет оплаты
Нет рекламы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423160"/>
            <a:ext cx="320040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2A67DC"/>
                </a:solidFill>
                <a:latin typeface="Aptos"/>
              </a:rPr>
              <a:t>OFFLINE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246120"/>
            <a:ext cx="2926080" cy="914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21C2D"/>
                </a:solidFill>
                <a:latin typeface="Aptos"/>
              </a:rPr>
              <a:t>После установки модель
работает без интернета.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423160"/>
            <a:ext cx="256032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2A67DC"/>
                </a:solidFill>
                <a:latin typeface="Aptos"/>
              </a:rPr>
              <a:t>CPU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246120"/>
            <a:ext cx="3200400" cy="914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21C2D"/>
                </a:solidFill>
                <a:latin typeface="Aptos"/>
              </a:rPr>
              <a:t>Не нужна видеокарта.
Распознавание выполняется локально.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C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48BF0"/>
          </a:solidFill>
          <a:ln>
            <a:solidFill>
              <a:srgbClr val="548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347472"/>
            <a:ext cx="347472" cy="347472"/>
          </a:xfrm>
          <a:prstGeom prst="ellipse">
            <a:avLst/>
          </a:prstGeom>
          <a:solidFill>
            <a:srgbClr val="2A67DC"/>
          </a:solidFill>
          <a:ln>
            <a:solidFill>
              <a:srgbClr val="2A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80644" y="374904"/>
            <a:ext cx="18288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Aptos"/>
              </a:rPr>
              <a:t>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38328"/>
            <a:ext cx="150876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Aptos"/>
              </a:rPr>
              <a:t>VoxSpica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43000"/>
            <a:ext cx="43891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48BF0"/>
                </a:solidFill>
                <a:latin typeface="Aptos"/>
              </a:rPr>
              <a:t>ЯЗЫКИ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698480" cy="868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Aptos"/>
              </a:rPr>
              <a:t>33 языка распознавания.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A0AAB9"/>
                </a:solidFill>
                <a:latin typeface="Aptos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23160"/>
            <a:ext cx="329184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Aptos"/>
              </a:rPr>
              <a:t>English</a:t>
            </a:r>
          </a:p>
        </p:txBody>
      </p:sp>
      <p:sp>
        <p:nvSpPr>
          <p:cNvPr id="10" name="Oval 9"/>
          <p:cNvSpPr/>
          <p:nvPr/>
        </p:nvSpPr>
        <p:spPr>
          <a:xfrm>
            <a:off x="488382" y="2491740"/>
            <a:ext cx="64008" cy="64008"/>
          </a:xfrm>
          <a:prstGeom prst="ellipse">
            <a:avLst/>
          </a:prstGeom>
          <a:solidFill>
            <a:srgbClr val="548BF0"/>
          </a:solidFill>
          <a:ln>
            <a:solidFill>
              <a:srgbClr val="548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2423160"/>
            <a:ext cx="329184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Aptos"/>
              </a:rPr>
              <a:t>Русский</a:t>
            </a:r>
          </a:p>
        </p:txBody>
      </p:sp>
      <p:sp>
        <p:nvSpPr>
          <p:cNvPr id="12" name="Oval 11"/>
          <p:cNvSpPr/>
          <p:nvPr/>
        </p:nvSpPr>
        <p:spPr>
          <a:xfrm>
            <a:off x="4221857" y="2498778"/>
            <a:ext cx="64008" cy="64008"/>
          </a:xfrm>
          <a:prstGeom prst="ellipse">
            <a:avLst/>
          </a:prstGeom>
          <a:solidFill>
            <a:srgbClr val="548BF0"/>
          </a:solidFill>
          <a:ln>
            <a:solidFill>
              <a:srgbClr val="548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92440" y="2423160"/>
            <a:ext cx="329184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Aptos"/>
              </a:rPr>
              <a:t>Deutsch</a:t>
            </a:r>
          </a:p>
        </p:txBody>
      </p:sp>
      <p:sp>
        <p:nvSpPr>
          <p:cNvPr id="14" name="Oval 13"/>
          <p:cNvSpPr/>
          <p:nvPr/>
        </p:nvSpPr>
        <p:spPr>
          <a:xfrm>
            <a:off x="7892813" y="2491740"/>
            <a:ext cx="64008" cy="64008"/>
          </a:xfrm>
          <a:prstGeom prst="ellipse">
            <a:avLst/>
          </a:prstGeom>
          <a:solidFill>
            <a:srgbClr val="548BF0"/>
          </a:solidFill>
          <a:ln>
            <a:solidFill>
              <a:srgbClr val="548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2990088"/>
            <a:ext cx="329184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Aptos"/>
              </a:rPr>
              <a:t>Español</a:t>
            </a:r>
          </a:p>
        </p:txBody>
      </p:sp>
      <p:sp>
        <p:nvSpPr>
          <p:cNvPr id="16" name="Oval 15"/>
          <p:cNvSpPr/>
          <p:nvPr/>
        </p:nvSpPr>
        <p:spPr>
          <a:xfrm>
            <a:off x="488382" y="3063240"/>
            <a:ext cx="64008" cy="64008"/>
          </a:xfrm>
          <a:prstGeom prst="ellipse">
            <a:avLst/>
          </a:prstGeom>
          <a:solidFill>
            <a:srgbClr val="548BF0"/>
          </a:solidFill>
          <a:ln>
            <a:solidFill>
              <a:srgbClr val="548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0" y="2990088"/>
            <a:ext cx="329184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Aptos"/>
              </a:rPr>
              <a:t>Français</a:t>
            </a:r>
          </a:p>
        </p:txBody>
      </p:sp>
      <p:sp>
        <p:nvSpPr>
          <p:cNvPr id="18" name="Oval 17"/>
          <p:cNvSpPr/>
          <p:nvPr/>
        </p:nvSpPr>
        <p:spPr>
          <a:xfrm>
            <a:off x="4223912" y="3063240"/>
            <a:ext cx="64008" cy="64008"/>
          </a:xfrm>
          <a:prstGeom prst="ellipse">
            <a:avLst/>
          </a:prstGeom>
          <a:solidFill>
            <a:srgbClr val="548BF0"/>
          </a:solidFill>
          <a:ln>
            <a:solidFill>
              <a:srgbClr val="548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92440" y="2990088"/>
            <a:ext cx="329184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Aptos"/>
              </a:rPr>
              <a:t>Italiano</a:t>
            </a:r>
          </a:p>
        </p:txBody>
      </p:sp>
      <p:sp>
        <p:nvSpPr>
          <p:cNvPr id="20" name="Oval 19"/>
          <p:cNvSpPr/>
          <p:nvPr/>
        </p:nvSpPr>
        <p:spPr>
          <a:xfrm>
            <a:off x="7892813" y="3040688"/>
            <a:ext cx="64008" cy="64008"/>
          </a:xfrm>
          <a:prstGeom prst="ellipse">
            <a:avLst/>
          </a:prstGeom>
          <a:solidFill>
            <a:srgbClr val="548BF0"/>
          </a:solidFill>
          <a:ln>
            <a:solidFill>
              <a:srgbClr val="548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557015"/>
            <a:ext cx="329184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Aptos"/>
              </a:rPr>
              <a:t>Português</a:t>
            </a:r>
          </a:p>
        </p:txBody>
      </p:sp>
      <p:sp>
        <p:nvSpPr>
          <p:cNvPr id="22" name="Oval 21"/>
          <p:cNvSpPr/>
          <p:nvPr/>
        </p:nvSpPr>
        <p:spPr>
          <a:xfrm>
            <a:off x="520386" y="3630168"/>
            <a:ext cx="64008" cy="64008"/>
          </a:xfrm>
          <a:prstGeom prst="ellipse">
            <a:avLst/>
          </a:prstGeom>
          <a:solidFill>
            <a:srgbClr val="548BF0"/>
          </a:solidFill>
          <a:ln>
            <a:solidFill>
              <a:srgbClr val="548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89120" y="3557015"/>
            <a:ext cx="329184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Aptos"/>
              </a:rPr>
              <a:t>中文</a:t>
            </a:r>
          </a:p>
        </p:txBody>
      </p:sp>
      <p:sp>
        <p:nvSpPr>
          <p:cNvPr id="24" name="Oval 23"/>
          <p:cNvSpPr/>
          <p:nvPr/>
        </p:nvSpPr>
        <p:spPr>
          <a:xfrm>
            <a:off x="4223912" y="3634021"/>
            <a:ext cx="64008" cy="64008"/>
          </a:xfrm>
          <a:prstGeom prst="ellipse">
            <a:avLst/>
          </a:prstGeom>
          <a:solidFill>
            <a:srgbClr val="548BF0"/>
          </a:solidFill>
          <a:ln>
            <a:solidFill>
              <a:srgbClr val="548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92440" y="3557015"/>
            <a:ext cx="329184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Aptos"/>
              </a:rPr>
              <a:t>日本語</a:t>
            </a:r>
          </a:p>
        </p:txBody>
      </p:sp>
      <p:sp>
        <p:nvSpPr>
          <p:cNvPr id="26" name="Oval 25"/>
          <p:cNvSpPr/>
          <p:nvPr/>
        </p:nvSpPr>
        <p:spPr>
          <a:xfrm>
            <a:off x="7924817" y="3626058"/>
            <a:ext cx="64008" cy="64008"/>
          </a:xfrm>
          <a:prstGeom prst="ellipse">
            <a:avLst/>
          </a:prstGeom>
          <a:solidFill>
            <a:srgbClr val="548BF0"/>
          </a:solidFill>
          <a:ln>
            <a:solidFill>
              <a:srgbClr val="548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4123944"/>
            <a:ext cx="329184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Aptos"/>
              </a:rPr>
              <a:t>한국어</a:t>
            </a:r>
          </a:p>
        </p:txBody>
      </p:sp>
      <p:sp>
        <p:nvSpPr>
          <p:cNvPr id="28" name="Oval 27"/>
          <p:cNvSpPr/>
          <p:nvPr/>
        </p:nvSpPr>
        <p:spPr>
          <a:xfrm>
            <a:off x="566928" y="4197096"/>
            <a:ext cx="64008" cy="64008"/>
          </a:xfrm>
          <a:prstGeom prst="ellipse">
            <a:avLst/>
          </a:prstGeom>
          <a:solidFill>
            <a:srgbClr val="548BF0"/>
          </a:solidFill>
          <a:ln>
            <a:solidFill>
              <a:srgbClr val="548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89120" y="4123944"/>
            <a:ext cx="329184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Aptos"/>
              </a:rPr>
              <a:t>العربية</a:t>
            </a:r>
          </a:p>
        </p:txBody>
      </p:sp>
      <p:sp>
        <p:nvSpPr>
          <p:cNvPr id="30" name="Oval 29"/>
          <p:cNvSpPr/>
          <p:nvPr/>
        </p:nvSpPr>
        <p:spPr>
          <a:xfrm>
            <a:off x="4221857" y="4197096"/>
            <a:ext cx="64008" cy="64008"/>
          </a:xfrm>
          <a:prstGeom prst="ellipse">
            <a:avLst/>
          </a:prstGeom>
          <a:solidFill>
            <a:srgbClr val="548BF0"/>
          </a:solidFill>
          <a:ln>
            <a:solidFill>
              <a:srgbClr val="548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92440" y="4123944"/>
            <a:ext cx="329184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Aptos"/>
              </a:rPr>
              <a:t>Türkçe</a:t>
            </a:r>
          </a:p>
        </p:txBody>
      </p:sp>
      <p:sp>
        <p:nvSpPr>
          <p:cNvPr id="32" name="Oval 31"/>
          <p:cNvSpPr/>
          <p:nvPr/>
        </p:nvSpPr>
        <p:spPr>
          <a:xfrm>
            <a:off x="7924817" y="4197096"/>
            <a:ext cx="64008" cy="64008"/>
          </a:xfrm>
          <a:prstGeom prst="ellipse">
            <a:avLst/>
          </a:prstGeom>
          <a:solidFill>
            <a:srgbClr val="548BF0"/>
          </a:solidFill>
          <a:ln>
            <a:solidFill>
              <a:srgbClr val="548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5800" y="4690872"/>
            <a:ext cx="329184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Aptos"/>
              </a:rPr>
              <a:t>Українська</a:t>
            </a:r>
          </a:p>
        </p:txBody>
      </p:sp>
      <p:sp>
        <p:nvSpPr>
          <p:cNvPr id="34" name="Oval 33"/>
          <p:cNvSpPr/>
          <p:nvPr/>
        </p:nvSpPr>
        <p:spPr>
          <a:xfrm>
            <a:off x="590661" y="4764024"/>
            <a:ext cx="64008" cy="64008"/>
          </a:xfrm>
          <a:prstGeom prst="ellipse">
            <a:avLst/>
          </a:prstGeom>
          <a:solidFill>
            <a:srgbClr val="548BF0"/>
          </a:solidFill>
          <a:ln>
            <a:solidFill>
              <a:srgbClr val="548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89120" y="4690872"/>
            <a:ext cx="329184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Aptos"/>
              </a:rPr>
              <a:t>Polski</a:t>
            </a:r>
          </a:p>
        </p:txBody>
      </p:sp>
      <p:sp>
        <p:nvSpPr>
          <p:cNvPr id="36" name="Oval 35"/>
          <p:cNvSpPr/>
          <p:nvPr/>
        </p:nvSpPr>
        <p:spPr>
          <a:xfrm>
            <a:off x="4253861" y="4760171"/>
            <a:ext cx="64008" cy="64008"/>
          </a:xfrm>
          <a:prstGeom prst="ellipse">
            <a:avLst/>
          </a:prstGeom>
          <a:solidFill>
            <a:srgbClr val="548BF0"/>
          </a:solidFill>
          <a:ln>
            <a:solidFill>
              <a:srgbClr val="548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092440" y="4690872"/>
            <a:ext cx="329184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Aptos"/>
              </a:rPr>
              <a:t>Nederlands</a:t>
            </a:r>
          </a:p>
        </p:txBody>
      </p:sp>
      <p:sp>
        <p:nvSpPr>
          <p:cNvPr id="38" name="Oval 37"/>
          <p:cNvSpPr/>
          <p:nvPr/>
        </p:nvSpPr>
        <p:spPr>
          <a:xfrm>
            <a:off x="7956821" y="4760171"/>
            <a:ext cx="64008" cy="64008"/>
          </a:xfrm>
          <a:prstGeom prst="ellipse">
            <a:avLst/>
          </a:prstGeom>
          <a:solidFill>
            <a:srgbClr val="548BF0"/>
          </a:solidFill>
          <a:ln>
            <a:solidFill>
              <a:srgbClr val="548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85800" y="5257800"/>
            <a:ext cx="329184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Aptos"/>
              </a:rPr>
              <a:t>Svenska</a:t>
            </a:r>
          </a:p>
        </p:txBody>
      </p:sp>
      <p:sp>
        <p:nvSpPr>
          <p:cNvPr id="40" name="Oval 39"/>
          <p:cNvSpPr/>
          <p:nvPr/>
        </p:nvSpPr>
        <p:spPr>
          <a:xfrm>
            <a:off x="601501" y="5330952"/>
            <a:ext cx="64008" cy="64008"/>
          </a:xfrm>
          <a:prstGeom prst="ellipse">
            <a:avLst/>
          </a:prstGeom>
          <a:solidFill>
            <a:srgbClr val="548BF0"/>
          </a:solidFill>
          <a:ln>
            <a:solidFill>
              <a:srgbClr val="548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389120" y="5257800"/>
            <a:ext cx="329184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Aptos"/>
              </a:rPr>
              <a:t>Čeština</a:t>
            </a:r>
          </a:p>
        </p:txBody>
      </p:sp>
      <p:sp>
        <p:nvSpPr>
          <p:cNvPr id="42" name="Oval 41"/>
          <p:cNvSpPr/>
          <p:nvPr/>
        </p:nvSpPr>
        <p:spPr>
          <a:xfrm>
            <a:off x="4191908" y="5293657"/>
            <a:ext cx="64008" cy="64008"/>
          </a:xfrm>
          <a:prstGeom prst="ellipse">
            <a:avLst/>
          </a:prstGeom>
          <a:solidFill>
            <a:srgbClr val="548BF0"/>
          </a:solidFill>
          <a:ln>
            <a:solidFill>
              <a:srgbClr val="548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092440" y="5257800"/>
            <a:ext cx="329184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Aptos"/>
              </a:rPr>
              <a:t>Ελληνικά</a:t>
            </a:r>
          </a:p>
        </p:txBody>
      </p:sp>
      <p:sp>
        <p:nvSpPr>
          <p:cNvPr id="44" name="Oval 43"/>
          <p:cNvSpPr/>
          <p:nvPr/>
        </p:nvSpPr>
        <p:spPr>
          <a:xfrm>
            <a:off x="7924817" y="5330952"/>
            <a:ext cx="64008" cy="64008"/>
          </a:xfrm>
          <a:prstGeom prst="ellipse">
            <a:avLst/>
          </a:prstGeom>
          <a:solidFill>
            <a:srgbClr val="548BF0"/>
          </a:solidFill>
          <a:ln>
            <a:solidFill>
              <a:srgbClr val="548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85800" y="5989320"/>
            <a:ext cx="658368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AB9CD"/>
                </a:solidFill>
                <a:latin typeface="Aptos"/>
              </a:rPr>
              <a:t>33 языка распознавания • 9 языков интерфейса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67DC"/>
          </a:solidFill>
          <a:ln>
            <a:solidFill>
              <a:srgbClr val="2A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347472"/>
            <a:ext cx="347472" cy="347472"/>
          </a:xfrm>
          <a:prstGeom prst="ellipse">
            <a:avLst/>
          </a:prstGeom>
          <a:solidFill>
            <a:srgbClr val="2A67DC"/>
          </a:solidFill>
          <a:ln>
            <a:solidFill>
              <a:srgbClr val="2A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80644" y="374904"/>
            <a:ext cx="18288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Aptos"/>
              </a:rPr>
              <a:t>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38328"/>
            <a:ext cx="150876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21C2D"/>
                </a:solidFill>
                <a:latin typeface="Aptos"/>
              </a:rPr>
              <a:t>VoxSpica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43000"/>
            <a:ext cx="43891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A67DC"/>
                </a:solidFill>
                <a:latin typeface="Aptos"/>
              </a:rPr>
              <a:t>БОЛЬШЕ, ЧЕМ ДИКТОВКА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698480" cy="868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21C2D"/>
                </a:solidFill>
                <a:latin typeface="Aptos"/>
              </a:rPr>
              <a:t>Речь можно распознавать и из файлов.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D6877"/>
                </a:solidFill>
                <a:latin typeface="Aptos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23160"/>
            <a:ext cx="3520440" cy="28803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2587752"/>
            <a:ext cx="3118104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A67DC"/>
                </a:solidFill>
                <a:latin typeface="Aptos"/>
              </a:rPr>
              <a:t>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136391"/>
            <a:ext cx="3118104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21C2D"/>
                </a:solidFill>
                <a:latin typeface="Aptos"/>
              </a:rPr>
              <a:t>Микрофон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93591"/>
            <a:ext cx="3118104" cy="1554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877"/>
                </a:solidFill>
                <a:latin typeface="Aptos"/>
              </a:rPr>
              <a:t>Говорите в реальном времени.
Пауза, продолжение, остановка.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423160"/>
            <a:ext cx="3520440" cy="28803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2587752"/>
            <a:ext cx="3118104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A67DC"/>
                </a:solidFill>
                <a:latin typeface="Aptos"/>
              </a:rPr>
              <a:t>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3136391"/>
            <a:ext cx="3118104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21C2D"/>
                </a:solidFill>
                <a:latin typeface="Aptos"/>
              </a:rPr>
              <a:t>Аудиофайлы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3593591"/>
            <a:ext cx="3118104" cy="1554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877"/>
                </a:solidFill>
                <a:latin typeface="Aptos"/>
              </a:rPr>
              <a:t>WAV и популярные форматы
через встроенный FFmpeg.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423160"/>
            <a:ext cx="3520440" cy="28803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2587752"/>
            <a:ext cx="3118104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A67DC"/>
                </a:solidFill>
                <a:latin typeface="Aptos"/>
              </a:rPr>
              <a:t>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3136391"/>
            <a:ext cx="3118104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21C2D"/>
                </a:solidFill>
                <a:latin typeface="Aptos"/>
              </a:rPr>
              <a:t>История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3593591"/>
            <a:ext cx="3118104" cy="1554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877"/>
                </a:solidFill>
                <a:latin typeface="Aptos"/>
              </a:rPr>
              <a:t>Распознавания сохраняются
и доступны для поиска.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C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48BF0"/>
          </a:solidFill>
          <a:ln>
            <a:solidFill>
              <a:srgbClr val="548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347472"/>
            <a:ext cx="347472" cy="347472"/>
          </a:xfrm>
          <a:prstGeom prst="ellipse">
            <a:avLst/>
          </a:prstGeom>
          <a:solidFill>
            <a:srgbClr val="2A67DC"/>
          </a:solidFill>
          <a:ln>
            <a:solidFill>
              <a:srgbClr val="2A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80644" y="374904"/>
            <a:ext cx="18288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Aptos"/>
              </a:rPr>
              <a:t>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38328"/>
            <a:ext cx="150876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Aptos"/>
              </a:rPr>
              <a:t>VoxSpica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43000"/>
            <a:ext cx="43891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48BF0"/>
                </a:solidFill>
                <a:latin typeface="Aptos"/>
              </a:rPr>
              <a:t>ИСТОРИЯ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698480" cy="868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Aptos"/>
              </a:rPr>
              <a:t>Я сделал VoxSpica для себя.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A0AAB9"/>
                </a:solidFill>
                <a:latin typeface="Aptos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6400800" cy="10972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>
                <a:solidFill>
                  <a:srgbClr val="FFFFFF"/>
                </a:solidFill>
                <a:latin typeface="Aptos"/>
              </a:rPr>
              <a:t>Мне не подошли существующие решения.
Поэтому я написал своё.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703320"/>
            <a:ext cx="6035040" cy="1508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C3D2E3"/>
                </a:solidFill>
                <a:latin typeface="Aptos"/>
              </a:rPr>
              <a:t>Теперь VoxSpica — это простой инструмент,
который можно попробовать бесплатно.
Если он окажется полезен пользователям,
проект будет активно развиваться.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2331720"/>
            <a:ext cx="3017520" cy="2971800"/>
          </a:xfrm>
          <a:prstGeom prst="roundRect">
            <a:avLst>
              <a:gd name="adj" fmla="val 8000"/>
            </a:avLst>
          </a:prstGeom>
          <a:solidFill>
            <a:srgbClr val="1E2A3E"/>
          </a:solidFill>
          <a:ln>
            <a:solidFill>
              <a:srgbClr val="374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66760" y="2834640"/>
            <a:ext cx="192024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200" b="1">
                <a:solidFill>
                  <a:srgbClr val="548BF0"/>
                </a:solidFill>
                <a:latin typeface="Aptos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886200"/>
            <a:ext cx="228600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Aptos"/>
              </a:rPr>
              <a:t>Новые функции
впереди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" y="246888"/>
            <a:ext cx="2194560" cy="594360"/>
          </a:xfrm>
          <a:prstGeom prst="rect">
            <a:avLst/>
          </a:prstGeom>
          <a:solidFill>
            <a:srgbClr val="121C2D"/>
          </a:solidFill>
          <a:ln>
            <a:solidFill>
              <a:srgbClr val="121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voxspica_mi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10896"/>
            <a:ext cx="384048" cy="3840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96695" y="301752"/>
            <a:ext cx="16459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ptos"/>
              </a:rPr>
              <a:t>VoxSpica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C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48BF0"/>
          </a:solidFill>
          <a:ln>
            <a:solidFill>
              <a:srgbClr val="548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94360" y="411480"/>
            <a:ext cx="364845" cy="364845"/>
          </a:xfrm>
          <a:prstGeom prst="ellipse">
            <a:avLst/>
          </a:prstGeom>
          <a:solidFill>
            <a:srgbClr val="2A67DC"/>
          </a:solidFill>
          <a:ln>
            <a:solidFill>
              <a:srgbClr val="2A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75970" y="440283"/>
            <a:ext cx="192024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FFFFFF"/>
                </a:solidFill>
                <a:latin typeface="Aptos"/>
              </a:rPr>
              <a:t>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5217" y="401878"/>
            <a:ext cx="1584198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90" b="1">
                <a:solidFill>
                  <a:srgbClr val="FFFFFF"/>
                </a:solidFill>
                <a:latin typeface="Aptos"/>
              </a:rPr>
              <a:t>VoxSpica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7498079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Aptos"/>
              </a:rPr>
              <a:t>Попробуйте VoxSpica.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423160"/>
            <a:ext cx="6400800" cy="868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C8D7E6"/>
                </a:solidFill>
                <a:latin typeface="Aptos"/>
              </a:rPr>
              <a:t>Скачайте бесплатно и попробуйте распознавание,
которое работает прямо на вашем ПК.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70332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2A67DC"/>
          </a:solidFill>
          <a:ln>
            <a:solidFill>
              <a:srgbClr val="2A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800" y="3886200"/>
            <a:ext cx="3381760" cy="2923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900" b="1" dirty="0">
                <a:solidFill>
                  <a:srgbClr val="FFFFFF"/>
                </a:solidFill>
                <a:latin typeface="Aptos"/>
              </a:rPr>
              <a:t>https://</a:t>
            </a:r>
            <a:r>
              <a:rPr sz="1900" b="1" dirty="0">
                <a:solidFill>
                  <a:srgbClr val="FFFFFF"/>
                </a:solidFill>
                <a:latin typeface="Aptos"/>
              </a:rPr>
              <a:t>voxspica.4crytobot.xyz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800600"/>
            <a:ext cx="566928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FBED2"/>
                </a:solidFill>
                <a:latin typeface="Aptos"/>
              </a:rPr>
              <a:t>GitHub: github.com/alex37529/voxspica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715000"/>
            <a:ext cx="530352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48BF0"/>
                </a:solidFill>
                <a:latin typeface="Aptos"/>
              </a:rPr>
              <a:t>FREE  •  LOCAL  •  PRIVATE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60" y="3703320"/>
            <a:ext cx="137160" cy="1371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884664" y="3703320"/>
            <a:ext cx="137160" cy="1371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488168" y="3703320"/>
            <a:ext cx="137160" cy="1371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482328" y="3904487"/>
            <a:ext cx="137160" cy="1371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085832" y="3904487"/>
            <a:ext cx="137160" cy="1371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281160" y="4306824"/>
            <a:ext cx="137160" cy="1371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884664" y="4306824"/>
            <a:ext cx="137160" cy="1371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488168" y="4306824"/>
            <a:ext cx="137160" cy="1371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482328" y="4507992"/>
            <a:ext cx="137160" cy="1371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085832" y="4507992"/>
            <a:ext cx="137160" cy="1371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281160" y="4910328"/>
            <a:ext cx="137160" cy="1371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884664" y="4910328"/>
            <a:ext cx="137160" cy="1371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488168" y="4910328"/>
            <a:ext cx="137160" cy="1371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9680" y="5257800"/>
            <a:ext cx="228600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BECDDE"/>
                </a:solidFill>
                <a:latin typeface="Aptos"/>
              </a:rPr>
              <a:t>Откройте сайт
для загрузки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" y="246888"/>
            <a:ext cx="2194560" cy="594360"/>
          </a:xfrm>
          <a:prstGeom prst="rect">
            <a:avLst/>
          </a:prstGeom>
          <a:solidFill>
            <a:srgbClr val="121C2D"/>
          </a:solidFill>
          <a:ln>
            <a:solidFill>
              <a:srgbClr val="121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voxspica_mi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10896"/>
            <a:ext cx="384048" cy="38404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96695" y="301752"/>
            <a:ext cx="16459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ptos"/>
              </a:rPr>
              <a:t>VoxSpica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053328"/>
            <a:ext cx="12191695" cy="804672"/>
          </a:xfrm>
          <a:prstGeom prst="rect">
            <a:avLst/>
          </a:prstGeom>
          <a:solidFill>
            <a:srgbClr val="121C2D"/>
          </a:solidFill>
          <a:ln>
            <a:solidFill>
              <a:srgbClr val="121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6172200"/>
            <a:ext cx="9052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548BF0"/>
                </a:solidFill>
              </a:rPr>
              <a:t>“ </a:t>
            </a:r>
            <a:r>
              <a:rPr sz="1250">
                <a:solidFill>
                  <a:srgbClr val="E6EBF2"/>
                </a:solidFill>
              </a:rPr>
              <a:t>Мир потерял много великих людей из-за того, что их идеи и мысли не были записаны вовремя.</a:t>
            </a:r>
          </a:p>
          <a:p>
            <a:pPr>
              <a:spcBef>
                <a:spcPts val="100"/>
              </a:spcBef>
            </a:pPr>
            <a:r>
              <a:rPr sz="1100" b="1">
                <a:solidFill>
                  <a:srgbClr val="548BF0"/>
                </a:solidFill>
              </a:rPr>
              <a:t>Не дайте своим идеям исчезнуть. Запишите их с VoxSpica.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78240" y="3246120"/>
            <a:ext cx="2651760" cy="2011680"/>
          </a:xfrm>
          <a:prstGeom prst="rect">
            <a:avLst/>
          </a:prstGeom>
          <a:solidFill>
            <a:srgbClr val="121C2D"/>
          </a:solidFill>
          <a:ln>
            <a:solidFill>
              <a:srgbClr val="121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voxspica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3401568"/>
            <a:ext cx="1737360" cy="1737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529</Words>
  <Application>Microsoft Office PowerPoint</Application>
  <PresentationFormat>Widescreen</PresentationFormat>
  <Paragraphs>163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Alyaksandr Makeenak</cp:lastModifiedBy>
  <cp:revision>6</cp:revision>
  <dcterms:created xsi:type="dcterms:W3CDTF">2013-01-27T09:14:16Z</dcterms:created>
  <dcterms:modified xsi:type="dcterms:W3CDTF">2026-09-29T11:53:14Z</dcterms:modified>
  <cp:category/>
</cp:coreProperties>
</file>